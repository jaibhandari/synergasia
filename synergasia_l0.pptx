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0" y="4114800"/>
            <a:ext cx="3200400" cy="3200400"/>
          </a:xfrm>
          <a:prstGeom prst="ellipse">
            <a:avLst/>
          </a:prstGeom>
          <a:solidFill>
            <a:srgbClr val="C45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5029200"/>
            <a:ext cx="7799831" cy="54864"/>
          </a:xfrm>
          <a:prstGeom prst="rect">
            <a:avLst/>
          </a:prstGeom>
          <a:solidFill>
            <a:srgbClr val="F2C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Synergasia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7432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Georgia"/>
              </a:rPr>
              <a:t>Guiding students toward their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2D2D"/>
                </a:solidFill>
                <a:latin typeface="Georgia"/>
              </a:rPr>
              <a:t>Platform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331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7A8D"/>
                </a:solidFill>
                <a:latin typeface="Georgia"/>
              </a:rPr>
              <a:t>L0 — Stakeholder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880360"/>
            <a:ext cx="1097280" cy="4572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0632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 comprehensive student counseling platform with
role-based access for Admins, Counselors, and Students.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June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What is Synergasia?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34747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3474720" cy="45720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241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Manages counselors &amp;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Configures platform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AI-powered data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Full oversight &amp; audit trail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1005840"/>
            <a:ext cx="34747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005840"/>
            <a:ext cx="3474720" cy="45720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0241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Counselor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Views assigned students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Assigns tasks &amp; gives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Uploads documents securely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Coordinates via planner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005840"/>
            <a:ext cx="34747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005840"/>
            <a:ext cx="3474720" cy="4572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0241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Tracks profile 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Manages activities &amp;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Plans university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▸  Receives push notifications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FB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035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F3A"/>
                </a:solidFill>
                <a:latin typeface="Calibri"/>
              </a:rPr>
              <a:t>✓  Multi-tenant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6035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F3A"/>
                </a:solidFill>
                <a:latin typeface="Calibri"/>
              </a:rPr>
              <a:t>✓  Role-based access control (RBAC)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6035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F3A"/>
                </a:solidFill>
                <a:latin typeface="Calibri"/>
              </a:rPr>
              <a:t>✓  AI-powered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6035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F3A"/>
                </a:solidFill>
                <a:latin typeface="Calibri"/>
              </a:rPr>
              <a:t>✓  Real-time push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5029200" cy="6858000"/>
          </a:xfrm>
          <a:prstGeom prst="rect">
            <a:avLst/>
          </a:prstGeom>
          <a:solidFill>
            <a:srgbClr val="C45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-914400"/>
            <a:ext cx="5029200" cy="5029200"/>
          </a:xfrm>
          <a:prstGeom prst="ellipse">
            <a:avLst/>
          </a:prstGeom>
          <a:solidFill>
            <a:srgbClr val="B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371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2C4B3"/>
                </a:solidFill>
                <a:latin typeface="Georgia"/>
              </a:rPr>
              <a:t>Command, customise, and
intelligently oversee the
entire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A8D"/>
                </a:solidFill>
                <a:latin typeface="Calibri"/>
              </a:rPr>
              <a:t>3 slides in this section: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1460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E07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6060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1.  Command &amp; Control — manage counselors, students, and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61188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E07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  Customise the Platform — dynamic fields, university repository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70916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E07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800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3.  Intelligence &amp; Oversight — AI extraction, email, notifications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Admin: Command &amp;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011680" cy="292608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ADMIN  ·  1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  <a:latin typeface="Georgia"/>
              </a:rPr>
              <a:t>Full platform control from a single command center.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E07B5A"/>
                </a:solidFill>
                <a:latin typeface="Calibri"/>
              </a:rPr>
              <a:t>▸  Counselor Management</a:t>
            </a:r>
          </a:p>
          <a:p>
            <a:r>
              <a:rPr sz="1100">
                <a:solidFill>
                  <a:srgbClr val="2D2D2D"/>
                </a:solidFill>
                <a:latin typeface="Calibri"/>
              </a:rPr>
              <a:t>    Create, edit, and archive counselor accounts. Assign students to counselors with one click.</a:t>
            </a:r>
          </a:p>
          <a:p/>
          <a:p>
            <a:r>
              <a:rPr b="1" sz="1200">
                <a:solidFill>
                  <a:srgbClr val="E07B5A"/>
                </a:solidFill>
                <a:latin typeface="Calibri"/>
              </a:rPr>
              <a:t>▸  Student Roster</a:t>
            </a:r>
          </a:p>
          <a:p>
            <a:r>
              <a:rPr sz="1100">
                <a:solidFill>
                  <a:srgbClr val="2D2D2D"/>
                </a:solidFill>
                <a:latin typeface="Calibri"/>
              </a:rPr>
              <a:t>    Full CRUD on student profiles. View completion status and activity at a glance.</a:t>
            </a:r>
          </a:p>
          <a:p/>
          <a:p>
            <a:r>
              <a:rPr b="1" sz="1200">
                <a:solidFill>
                  <a:srgbClr val="E07B5A"/>
                </a:solidFill>
                <a:latin typeface="Calibri"/>
              </a:rPr>
              <a:t>▸  Access Control</a:t>
            </a:r>
          </a:p>
          <a:p>
            <a:r>
              <a:rPr sz="1100">
                <a:solidFill>
                  <a:srgbClr val="2D2D2D"/>
                </a:solidFill>
                <a:latin typeface="Calibri"/>
              </a:rPr>
              <a:t>    Developer → Admin → Counselor → Student hierarchy. Enforced at API and UI levels.</a:t>
            </a:r>
          </a:p>
          <a:p/>
          <a:p>
            <a:r>
              <a:rPr b="1" sz="1200">
                <a:solidFill>
                  <a:srgbClr val="E07B5A"/>
                </a:solidFill>
                <a:latin typeface="Calibri"/>
              </a:rPr>
              <a:t>▸  Data Integrity</a:t>
            </a:r>
          </a:p>
          <a:p>
            <a:r>
              <a:rPr sz="1100">
                <a:solidFill>
                  <a:srgbClr val="2D2D2D"/>
                </a:solidFill>
                <a:latin typeface="Calibri"/>
              </a:rPr>
              <a:t>    Counselors with active students cannot be deleted — protected by backend validation.</a:t>
            </a:r>
          </a:p>
          <a:p/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B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43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5F3A"/>
                </a:solidFill>
                <a:latin typeface="Georgia"/>
              </a:rPr>
              <a:t>Key Capabilities at a Glance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7B5A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06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Calibri"/>
              </a:rPr>
              <a:t>Permission levels
(Developer, Admin,
Counselor, Student)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82880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7B5A"/>
                </a:solidFill>
                <a:latin typeface="Georgia"/>
              </a:rPr>
              <a:t>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606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Calibri"/>
              </a:rPr>
              <a:t>Students &amp; counselors
per admin account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84048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77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7B5A"/>
                </a:solidFill>
                <a:latin typeface="Georgia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17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Calibri"/>
              </a:rPr>
              <a:t>Role-enforced data
isolation per firm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84048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977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7B5A"/>
                </a:solidFill>
                <a:latin typeface="Georgia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617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2D"/>
                </a:solidFill>
                <a:latin typeface="Calibri"/>
              </a:rPr>
              <a:t>Complete activity trail
for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Admin: Customise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011680" cy="292608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ADMIN  ·  2 of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6576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3657600" cy="41148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71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Dynamic Profile Field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Create custom fields per student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700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Field types: text, number, date, dropdown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1985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Mark fields as required or optional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Organise into named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947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Students only see fields from their 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325880"/>
            <a:ext cx="36576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325880"/>
            <a:ext cx="3657600" cy="41148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371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University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9202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Build an admin-scoped university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6700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Add detailed info: rankings, programs, fees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1985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AI auto-extracts data from official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1696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Students only see universities you add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91947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Choose which data fields students can 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325880"/>
            <a:ext cx="36576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325880"/>
            <a:ext cx="3657600" cy="411480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371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Admin-Scoped Data 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202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Each firm's data is fully independent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6700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No cross-contamination between tenants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1985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Counselors inherit the admin's data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696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Secure multi-tenancy by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Admin: Intelligence &amp;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011680" cy="292608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ADMIN  ·  3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2D2D"/>
                </a:solidFill>
                <a:latin typeface="Georgia"/>
              </a:rPr>
              <a:t>AI-Powered University Data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2103120" cy="128016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B5A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585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Admin adds a university to the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7B5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1965960"/>
            <a:ext cx="2103120" cy="128016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B5A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22585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Multi-Source
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AI queries official website,
Common Data Set &amp; web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7B5A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1184" y="1965960"/>
            <a:ext cx="2103120" cy="128016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92624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B5A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22585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Store All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Complete dataset saved to DB
regardless of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7B5A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1965960"/>
            <a:ext cx="2103120" cy="128016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B5A"/>
                </a:solidFill>
                <a:latin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22585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Admin Curates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Admin selects which fields
students can see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7B5A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1965960"/>
            <a:ext cx="2103120" cy="128016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B5A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22585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Student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Students see only the
admin-approved fields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42900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20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▸  Email &amp; SMTP Configuration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886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Database-stored SMTP settings for password resets, task reminders, and event notifications. No hardcoded credentials.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0060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892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▸  Push Notification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257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Real-time device push notifications for tasks, messages, activity feedback, and planner event reminders (1 day prior).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42900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520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▸  Global Task Oversight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886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View and track all tasks across the entire platform. Monitor counselor activity and student progress.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80060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892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▸  Counselor Activity Notifications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257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Admins receive notifications when counselors assign tasks, upload documents, or schedule planner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5029200" cy="6858000"/>
          </a:xfrm>
          <a:prstGeom prst="rect">
            <a:avLst/>
          </a:prstGeom>
          <a:solidFill>
            <a:srgbClr val="4A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-914400"/>
            <a:ext cx="5029200" cy="5029200"/>
          </a:xfrm>
          <a:prstGeom prst="ellipse">
            <a:avLst/>
          </a:prstGeom>
          <a:solidFill>
            <a:srgbClr val="3A4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COUNSELOR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371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BC4D0"/>
                </a:solidFill>
                <a:latin typeface="Georgia"/>
              </a:rPr>
              <a:t>Focus on the students who
need you — guided by
data, tools, and clarity.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A8D"/>
                </a:solidFill>
                <a:latin typeface="Calibri"/>
              </a:rPr>
              <a:t>3 slides in this section: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1460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6B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6060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1.  My Caseload — scoped student access, messaging, planner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61188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6B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  Drive Student Progress — task workflow, activity 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70916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6B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800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3.  Documents &amp; University Research — secure docs, uni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Counselor: My Caseload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286000" cy="292608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2066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COUNSELOR  ·  1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  <a:latin typeface="Georgia"/>
              </a:rPr>
              <a:t>Counselors see only what they need — their assigned students.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109728" cy="118872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Scoped Student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Counselors only see and interact with the students assigned to them by their admin. Full data isolation.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109728" cy="118872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Rich Student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View the student's full profile including custom admin-configured fields, completion status, and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109728" cy="118872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Direct Messaging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206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Built-in messaging panel for direct counselor-to-student communication, with notification alerts.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92024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920240"/>
            <a:ext cx="109728" cy="118872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Planner Coordination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3774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View and add planner events for each student. Stay aligned on deadlines and appointments.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29184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291840"/>
            <a:ext cx="109728" cy="118872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Notification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490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Receive in-app and device push notifications for student activity, task completions, and messages.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66344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663440"/>
            <a:ext cx="109728" cy="118872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Student Progress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1206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At-a-glance dashboard of student task completion, profile percentage, and recent activities.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Counselor: Drive Student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286000" cy="292608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2066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COUNSELOR  ·  2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Georgia"/>
              </a:rPr>
              <a:t>Task Assignment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2468880" cy="146304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A8D"/>
                </a:solidFill>
                <a:latin typeface="Calibri"/>
              </a:rPr>
              <a:t>Assign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Counselor creates a task
with title, description
and optional due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3774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828800"/>
            <a:ext cx="2468880" cy="146304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A8D"/>
                </a:solidFill>
                <a:latin typeface="Calibri"/>
              </a:rPr>
              <a:t>Auto Planner
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377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System automatically
creates a planner entry
for due-date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3774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828800"/>
            <a:ext cx="2468880" cy="146304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A8D"/>
                </a:solidFill>
                <a:latin typeface="Calibri"/>
              </a:rPr>
              <a:t>Student Notified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77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Student receives a
push notification
and in-app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3774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1828800"/>
            <a:ext cx="2468880" cy="146304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A8D"/>
                </a:solidFill>
                <a:latin typeface="Calibri"/>
              </a:rPr>
              <a:t>Track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377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Counselor monitors
status: Pending →
In Progress →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474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Georgia"/>
              </a:rPr>
              <a:t>Activity Feedback &amp; Portfolio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6858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Students log extracurricular activities with descriptions and outcomes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16551"/>
            <a:ext cx="6858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Counselors review each activity entry and provide written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55463"/>
            <a:ext cx="6858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Feedback triggers a notification to the student instantly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94375"/>
            <a:ext cx="6858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Activity history builds the student's portfolio for university 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33287"/>
            <a:ext cx="6858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Pagination keeps long activity lists manageable for both parties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00584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005840"/>
            <a:ext cx="3749039" cy="41148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10241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Planner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1554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Full calendar view for
each assigned student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5915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Tasks with due dates auto-
populate as planner events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163824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Counselor can add custom
events directly to the calendar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96849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Students get reminders
1 day before events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7731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Scrollable event creation
form for ease of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Counselor: Documents &amp; University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10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286000" cy="292608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2066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COUNSELOR  ·  3 of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548640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5486400" cy="41148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Secure Document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Upload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762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Counselors upload files (PDFs, Word docs, images) directly to each student's profile.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Visibility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449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Toggle per-document whether the student can see it — useful for internal notes vs. shared resources.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Edit &amp; 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Full lifecycle management: rename, replace, or remove documents as the application process evolves.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Role-Based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823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Only the assigned counselor and admin can see all documents. Student sees only what's shared with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Secure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509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Files stored with role-enforced access. Unauthorised access blocked at the API level.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325880"/>
            <a:ext cx="548640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325880"/>
            <a:ext cx="5486400" cy="41148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University Research &amp;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Browse University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1762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Access the admin-scoped university list with all AI-extracted and admin-curated data fields.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Suggest Universities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0449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Recommend specific universities to students directly from the counselor portal.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View Rich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9136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See rankings, programs, acceptance rates, fees, and custom fields the admin has enabled.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Student Shortlisting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7823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Students can categorise universities as Reach, Target, or Safety for application planning.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▸  Admin-Scoped Catalogue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6509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Counselors only see universities added by their admin — keeping the list relevant and focused.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5029200" cy="6858000"/>
          </a:xfrm>
          <a:prstGeom prst="rect">
            <a:avLst/>
          </a:prstGeom>
          <a:solidFill>
            <a:srgbClr val="1E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-914400"/>
            <a:ext cx="5029200" cy="5029200"/>
          </a:xfrm>
          <a:prstGeom prst="ellipse">
            <a:avLst/>
          </a:prstGeom>
          <a:solidFill>
            <a:srgbClr val="143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STUDENT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371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8F1FC"/>
                </a:solidFill>
                <a:latin typeface="Georgia"/>
              </a:rPr>
              <a:t>Own your journey — profile,
portfolio, planner, and
university planning in 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A8D"/>
                </a:solidFill>
                <a:latin typeface="Calibri"/>
              </a:rPr>
              <a:t>3 slides in this section: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1460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6060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1.  My Dashboard — tasks, notifications, profile completion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61188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  Build My Portfolio — Activity Locker, Planner, Document Vault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709160"/>
            <a:ext cx="5760720" cy="914400"/>
          </a:xfrm>
          <a:prstGeom prst="rect">
            <a:avLst/>
          </a:prstGeom>
          <a:solidFill>
            <a:srgbClr val="3A3A3A"/>
          </a:solidFill>
          <a:ln w="63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800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3.  University Planning — shortlisting, Reach/Target/Safety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Student: My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011680" cy="292608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STUDENT  ·  1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  <a:latin typeface="Georgia"/>
              </a:rPr>
              <a:t>Everything a student needs, front and center.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74519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3657600" cy="41148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2938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Profile Completion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68879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Visual progress indicator (% complete)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10127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Highlights which sections need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51375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Motivates students to keep profiles updated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92623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Instant feedback on completeness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874519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874519"/>
            <a:ext cx="3657600" cy="41148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92938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My Task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468879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Tasks assigned by counselor or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10127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Status: Pending → In Progress →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151375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Paginated list for easy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92623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Due date displayed alongside each task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874519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874519"/>
            <a:ext cx="3657600" cy="411480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92938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Notifications &amp; Reminders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468879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In-app notifications for new tasks &amp; messages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310127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Device push notifications (with permission)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151375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Event reminders 1 day before planner 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992623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Custom reminder timing (minutes/hours/days)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Student: Build My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13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011680" cy="292608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STUDENT  ·  2 of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6576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3657600" cy="41148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807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Activity Locker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928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BD5"/>
                </a:solidFill>
                <a:latin typeface="Calibri"/>
              </a:rPr>
              <a:t>Log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67128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Record extracurriculars,
responsibilities, volunteer
work, and achievements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083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BD5"/>
                </a:solidFill>
                <a:latin typeface="Calibri"/>
              </a:rPr>
              <a:t>Describe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82696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Detail what you learned
or accomplished in
each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239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BD5"/>
                </a:solidFill>
                <a:latin typeface="Calibri"/>
              </a:rPr>
              <a:t>Counselor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98264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Receive written feedback
from your counselor on
each logged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395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BD5"/>
                </a:solidFill>
                <a:latin typeface="Calibri"/>
              </a:rPr>
              <a:t>Build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1383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Activities accumulate to
form a rich portfolio for
university applications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325880"/>
            <a:ext cx="36576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325880"/>
            <a:ext cx="3657600" cy="41148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3807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Personal 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8928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Calendar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167128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Full calendar interface
with month and week
views for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0083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Custom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82696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Create personal reminders
for deadlines, prep sessions,
and important 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1239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Smart Reminders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398264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Set reminders at custom
times: minutes, hours,
or days in advance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395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8D"/>
                </a:solidFill>
                <a:latin typeface="Calibri"/>
              </a:rPr>
              <a:t>Task Auto-Events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51383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Tasks with due dates from
your counselor appear
automatically in your planner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325880"/>
            <a:ext cx="36576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1325880"/>
            <a:ext cx="3657600" cy="411480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13807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Document 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18928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6A"/>
                </a:solidFill>
                <a:latin typeface="Calibri"/>
              </a:rPr>
              <a:t>Shared Documents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67128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View documents your
counselor has shared
with you securely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0083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6A"/>
                </a:solidFill>
                <a:latin typeface="Calibri"/>
              </a:rPr>
              <a:t>Application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282696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Store and access important
files for university
application processes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1239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6A"/>
                </a:solidFill>
                <a:latin typeface="Calibri"/>
              </a:rPr>
              <a:t>Role-Controlled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98264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See exactly what your
counselor has permitted —
no more, no less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2395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6A"/>
                </a:solidFill>
                <a:latin typeface="Calibri"/>
              </a:rPr>
              <a:t>Always Available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51383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Access your documents
anytime via your secure
student portal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Student: University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14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2011680" cy="292608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996696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STUDENT  ·  3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  <a:latin typeface="Georgia"/>
              </a:rPr>
              <a:t>Plan your university applications with guidance and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3657600" cy="45720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84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1460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Universities where admission
is competitive but possible with
a strong application package.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984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1460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Universities where your profile
aligns well with typical admitted
students — your primary focus.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3657600" cy="457200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984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1460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Universities where you are
confidently within or above
their typical admit profile.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Georgia"/>
              </a:rPr>
              <a:t>What students can see about each university: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Official rankings and reputation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Acceptance rates and application deadlines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389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Available programs and degree offerings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1389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Tuition fees and financial aid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144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Campus location and key 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6144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▸  Admin-curated notes and highlights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80760"/>
            <a:ext cx="11430000" cy="27432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099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55AA"/>
                </a:solidFill>
                <a:latin typeface="Calibri"/>
              </a:rPr>
              <a:t>  Students only see data fields and universities that their admin has approved — ensuring curated, relevant information.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Platform Architecture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539496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539496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3327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Technology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1005840" cy="27432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36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8379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React 18 +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1854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Vite build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5328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Tailwind CSS + shadcn/ui (Radix UI)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880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TanStack Query (server state)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2278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React Hook Form + Zod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7530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Wouter (client-side routing)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67912"/>
            <a:ext cx="1005840" cy="27432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9709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Node.js + Express.js (TypeScript, ES modules)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5445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Drizzle 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8920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bcrypt password hashing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2395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Express sessions + connect-pg-simple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869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Nodemailer (email) + web-push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879592"/>
            <a:ext cx="1005840" cy="274320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62087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PostgreSQL via Neon serverless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65562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Schema: Users, Students, Counselors,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6903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  Profile Fields, Universities, Tasks,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72511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·    Activities, Planner Events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005840"/>
            <a:ext cx="566928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1005840"/>
            <a:ext cx="566928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03327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Security &amp; Multi-Tenancy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554480"/>
            <a:ext cx="73152" cy="59436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57276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RBAC — 4 Permission Levels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182880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Developer → Admin → Counselor → Student.
Every API endpoint and UI component enforces the hierarchy.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331720"/>
            <a:ext cx="73152" cy="59436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235000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bcrypt Password Hashing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60604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All passwords salted and hashed with bcrypt.
No plaintext credentials stored anywhere.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108960"/>
            <a:ext cx="73152" cy="594360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12724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Session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38328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Express sessions persisted in PostgreSQL via connect-pg-simple.
Sessions expire and rotate securely.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886200"/>
            <a:ext cx="73152" cy="59436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90448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Multi-Tenancy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16052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Each admin is an isolated tenant. Students, counselors, fields, and universities are scoped to their admin.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663440"/>
            <a:ext cx="73152" cy="59436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68172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Data Integrity Guards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9377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Counselors cannot be deleted while students are assigned. Validated at backend API and frontend UI.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440680"/>
            <a:ext cx="73152" cy="594360"/>
          </a:xfrm>
          <a:prstGeom prst="rect">
            <a:avLst/>
          </a:prstGeom>
          <a:solidFill>
            <a:srgbClr val="4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45896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Email/Password Auth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71500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Custom email/password authentication with secure session tokens. No third-party OAuth dependency.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Why Synergasia?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07B5A"/>
                </a:solidFill>
                <a:latin typeface="Georgia"/>
              </a:rPr>
              <a:t>SYNERGASIA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  <a:latin typeface="Calibri"/>
              </a:rPr>
              <a:t>Synergasia — L0 Platform Overview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56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A8D"/>
                </a:solidFill>
                <a:latin typeface="Calibri"/>
              </a:rPr>
              <a:t>16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2D2D"/>
                </a:solidFill>
                <a:latin typeface="Georgia"/>
              </a:rPr>
              <a:t>One platform. Three empowered roles.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57600" cy="457200"/>
          </a:xfrm>
          <a:prstGeom prst="rect">
            <a:avLst/>
          </a:prstGeom>
          <a:solidFill>
            <a:srgbClr val="E07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013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Total control over your counseling firm — manage teams, customise the platform, and leverage AI to build a world-class university database with zero manual research.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737360"/>
            <a:ext cx="3657600" cy="45720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8013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Counselor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317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Focus entirely on your assigned students — assign tasks, review portfolios, share documents, and coordinate plans in one seamlessly scoped workspace.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657600" cy="4572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8013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A personal command center for university applications — track tasks, log activities, plan with smart reminders, and explore curated university options with confidence.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06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  <a:latin typeface="Georgia"/>
              </a:rPr>
              <a:t>3 Differentiators That Set Synergasia Apart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09160"/>
            <a:ext cx="3657600" cy="155448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F3A"/>
                </a:solidFill>
                <a:latin typeface="Georgia"/>
              </a:rPr>
              <a:t>AI-Powered Data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6636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Automatically pulls university information from multiple authoritative sources — no manual data entry. Admins curate what students see; the system captures everything.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709160"/>
            <a:ext cx="3657600" cy="155448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8006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F3A"/>
                </a:solidFill>
                <a:latin typeface="Georgia"/>
              </a:rPr>
              <a:t>Fully Dynamic Profiles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16636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Admins define exactly what information students need to provide. Custom fields, categories, and visibility rules mean the platform adapts to every firm's process.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709160"/>
            <a:ext cx="3657600" cy="1554480"/>
          </a:xfrm>
          <a:prstGeom prst="rect">
            <a:avLst/>
          </a:prstGeom>
          <a:solidFill>
            <a:srgbClr val="FBEEE8"/>
          </a:solidFill>
          <a:ln w="6350">
            <a:solidFill>
              <a:srgbClr val="F2C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8006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F3A"/>
                </a:solidFill>
                <a:latin typeface="Georgia"/>
              </a:rPr>
              <a:t>Enterprise-Grade Multi-Tenant RBAC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16636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Four permission levels with data isolation between firms. Every action is authorised by role — at the API, at the query, and at the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